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Riscos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Críticos</c:v>
                  </c:pt>
                  <c:pt idx="1">
                    <c:v>Altos</c:v>
                  </c:pt>
                  <c:pt idx="2">
                    <c:v>Médios</c:v>
                  </c:pt>
                  <c:pt idx="3">
                    <c:v>Baixos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17</c:v>
                </c:pt>
                <c:pt idx="2">
                  <c:v>14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6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46304" cy="182880"/>
          </a:xfrm>
          <a:prstGeom prst="triangle">
            <a:avLst/>
          </a:prstGeom>
          <a:solidFill>
            <a:srgbClr val="D10A1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480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Data: da planilha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um aplicativo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técnico completo do Quick Data 3.23 e proposta de modernização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time de Planejamento &amp; Controle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12700">
            <a:solidFill>
              <a:srgbClr val="3D6B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080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[PREENCHER: seu nome]  ·  [PREENCHER: data]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abrimos essa investigação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Cresceu por cima de si mesmo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Quick Data existe há anos e foi ganhando funções em cima das antigas, sem nunca ter sido documentado de verdade.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60020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/>
        </p:spPr>
      </p:sp>
      <p:sp>
        <p:nvSpPr>
          <p:cNvPr id="9" name="Text 7"/>
          <p:cNvSpPr/>
          <p:nvPr/>
        </p:nvSpPr>
        <p:spPr>
          <a:xfrm>
            <a:off x="4566818" y="1828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66818" y="23317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sabe tudo o que ele faz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66818" y="306324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de como ele funciona por dentro está espalhado entre poucas pessoas — e some quando elas saem do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7797" y="1600200"/>
            <a:ext cx="3515258" cy="2743200"/>
          </a:xfrm>
          <a:prstGeom prst="roundRect">
            <a:avLst>
              <a:gd name="adj" fmla="val 2667"/>
            </a:avLst>
          </a:prstGeom>
          <a:solidFill>
            <a:srgbClr val="F4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8356397" y="182880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6397" y="2331720"/>
            <a:ext cx="30580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Lentidão e erros no fechamento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56397" y="306324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que deveriam ser rápidos travam ou demoram, e alguns erros se repetem mês após mês sem causa raiz conhecida.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dado concreto do quanto o arquivo já envelheceu: 42 vínculos internos quebrados, alguns apontando para sistemas que não existem mais desde 2014.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REALIZADO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auditoria técnica completa do arquivo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primeira vez, sabemos exatamente o que a planilha faz por dentro — cada botão, cada cálculo, cada regra de negócio, com evidência linha a linha.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6786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542032"/>
            <a:ext cx="229354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85800" y="3429000"/>
            <a:ext cx="229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abas mapeadas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90824" y="2377440"/>
            <a:ext cx="256786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7984" y="2542032"/>
            <a:ext cx="229354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27984" y="3429000"/>
            <a:ext cx="229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 de código documentadas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2377440"/>
            <a:ext cx="256786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0168" y="2542032"/>
            <a:ext cx="229354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70168" y="3429000"/>
            <a:ext cx="229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 identificadas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75191" y="2377440"/>
            <a:ext cx="2567864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5400000">
              <a:srgbClr val="1E293B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12351" y="2542032"/>
            <a:ext cx="2293544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212351" y="3429000"/>
            <a:ext cx="2293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técnicos classificados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343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um documento técnico de referência — o primeiro que este sistema já teve.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ACHADO QUE MAIS IMPORTA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cálculo é feito de duas formas diferentes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que classifica os números por empresa e por norma contábil (IFRS) foi implementada duas vezes, em pontos diferentes do sistema — e nada garante que as duas continuam produzindo o mesmo resultado.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A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completa da base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343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Caminho B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pontual / botão de menu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120640" y="3794760"/>
            <a:ext cx="3108960" cy="777240"/>
          </a:xfrm>
          <a:prstGeom prst="roundRect">
            <a:avLst>
              <a:gd name="adj" fmla="val 7059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7947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número financeiro,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resultados possíveis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03320" y="3680460"/>
            <a:ext cx="1371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03320" y="4732020"/>
            <a:ext cx="1371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4864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direta: dependendo de qual botão gerou o número, o resultado reportado pode divergir — sem nenhum alerta do sistema.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PANORAMA COMPLETO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riscos técnicos identificados e classificados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955280" y="1737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95528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riscos são críticos ou altos — exigem atenção antes de qualquer mudança no sistema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955280" y="3566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955280" y="41148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críticos são de “lentidão” — todos são de segurança ou confiabilidade do dado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remendar a planilha não resolve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4206240"/>
        </p:xfrm>
        <a:graphic>
          <a:graphicData uri="http://schemas.openxmlformats.org/drawingml/2006/table">
            <a:tbl>
              <a:tblPr/>
              <a:tblGrid>
                <a:gridCol w="6153912"/>
                <a:gridCol w="2468880"/>
                <a:gridCol w="2468880"/>
              </a:tblGrid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 atual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Aplicativo novo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1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Senha do banco protegida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Mesmo dado sempre com o mesmo resultado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Progresso visível, sem travar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de poucas pessoas para manter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Mudanças testáveis antes de ir pro 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46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84632"/>
            <a:ext cx="146304" cy="182880"/>
          </a:xfrm>
          <a:prstGeom prst="triangle">
            <a:avLst/>
          </a:prstGeom>
          <a:solidFill>
            <a:srgbClr val="D10A1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0233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Quick Data, como aplicativo desktop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 rodando no computador de cada analista, do jeito que já é hoje — só que fora do Excel, sem macro, sem senha exposta, e sem depender de reabrir a planilha inteira para cada operação.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47872"/>
            <a:ext cx="310896" cy="310896"/>
          </a:xfrm>
          <a:prstGeom prst="oval">
            <a:avLst/>
          </a:prstGeom>
          <a:solidFill>
            <a:srgbClr val="D10A1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465576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tecnologia já usada e validada em outro projeto interno da TIM — não é experimento novo, é o padrão que já funciona.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416552"/>
            <a:ext cx="310896" cy="310896"/>
          </a:xfrm>
          <a:prstGeom prst="oval">
            <a:avLst/>
          </a:prstGeom>
          <a:solidFill>
            <a:srgbClr val="D10A1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416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4334256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do time precisa aprender Python ou SQL para usar — a experiência é a de abrir um programa e clicar em botões, como hoje.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5285232"/>
            <a:ext cx="310896" cy="310896"/>
          </a:xfrm>
          <a:prstGeom prst="oval">
            <a:avLst/>
          </a:prstGeom>
          <a:solidFill>
            <a:srgbClr val="D10A1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5202936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telas seguem o mesmo fluxo que vocês já conhecem — extrair, ajustar, consultar resultados — só que mais rápido e confiável.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DO NOVO QUICK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Principal — visão geral ao abrir o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97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IMAGEM PENDENTE: 02_painel_principal.png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362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sempre volta pra essa tela ao fim de cada operação — status das bases, atalhos e atividade recente em um só lugar.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VAI FICAR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de Dados — a tela mais usada hoje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97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IMAGEM PENDENTE: 03_extracao_de_dados.png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362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botões e mesma lógica da aba “Extração” atual — só que com status real de cada base, não mais um clique “no escuro”.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VAI FICAR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Manuais — grade editável com validação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97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IMAGEM PENDENTE: 04_ajustes_manuais.png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362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função de sempre (lançamentos manuais), com validação de dropdown em tempo real em vez de fórmula escondida na célula.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VAI FICAR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Results — o relatório final, sem mudar o hábito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971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11094415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IMAGEM PENDENTE: 05_main_results.png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3620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e visão dinâmica equivalentes aos slicers atuais — a leitura do resultado continua a mesma.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DO NOVO QUICK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mais: histórico, log e configuração — tudo visível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45738" cy="1783080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35457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pendente ]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extrações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22978" y="1463040"/>
            <a:ext cx="3545738" cy="1783080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22978" y="1463040"/>
            <a:ext cx="35457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pendente ]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322978" y="3291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/ Console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97317" y="1463040"/>
            <a:ext cx="3545738" cy="1783080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7317" y="1463040"/>
            <a:ext cx="35457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pendente 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97317" y="3291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45738" cy="1783080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35457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pendente 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577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2978" y="3749040"/>
            <a:ext cx="3545738" cy="1783080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2978" y="3749040"/>
            <a:ext cx="35457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pendente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22978" y="5577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Atualizações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7317" y="3749040"/>
            <a:ext cx="3545738" cy="1783080"/>
          </a:xfrm>
          <a:prstGeom prst="roundRect">
            <a:avLst>
              <a:gd name="adj" fmla="val 2564"/>
            </a:avLst>
          </a:prstGeom>
          <a:solidFill>
            <a:srgbClr val="F4F6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7317" y="3749040"/>
            <a:ext cx="354573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pendente ]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97317" y="5577840"/>
            <a:ext cx="35457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Relatar bug ou melhoria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NA PRÁTICA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esperados com a reescrita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10048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469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84708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credencial fica exposta no código — acesso ao banco passa a ser controlado e auditável.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33008" y="1645920"/>
            <a:ext cx="5410048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6461608" y="18745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4691"/>
          </a:solidFill>
          <a:ln/>
        </p:spPr>
      </p:sp>
      <p:sp>
        <p:nvSpPr>
          <p:cNvPr id="11" name="Text 9"/>
          <p:cNvSpPr/>
          <p:nvPr/>
        </p:nvSpPr>
        <p:spPr>
          <a:xfrm>
            <a:off x="646160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01688" y="184708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 do número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61608" y="242316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implementação de cada regra de negócio, testada — elimina o risco de dois cálculos divergentes para o mesmo dado.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410048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3840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469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81304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do processo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38912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Progresso real e log de execução em cada operação — nunca mais “não sei se travou ou se ainda está rodando”.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33008" y="3611880"/>
            <a:ext cx="5410048" cy="1737360"/>
          </a:xfrm>
          <a:prstGeom prst="roundRect">
            <a:avLst>
              <a:gd name="adj" fmla="val 4211"/>
            </a:avLst>
          </a:prstGeom>
          <a:solidFill>
            <a:srgbClr val="F4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61608" y="38404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4691"/>
          </a:solidFill>
          <a:ln/>
        </p:spPr>
      </p:sp>
      <p:sp>
        <p:nvSpPr>
          <p:cNvPr id="21" name="Text 19"/>
          <p:cNvSpPr/>
          <p:nvPr/>
        </p:nvSpPr>
        <p:spPr>
          <a:xfrm>
            <a:off x="6461608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01688" y="3813048"/>
            <a:ext cx="431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dependência de pessoas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61608" y="4389120"/>
            <a:ext cx="495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conhecimento fica documentado e no código versionado, não só na cabeça de quem construiu.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tempo exato de ganho de velocidade será medido durante o período de operação em paralelo (fase de transição), não estamos prometendo um número antes de medir de verdade.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46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CHEGAMOS LÁ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proposto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457200"/>
          </a:xfrm>
          <a:prstGeom prst="roundRect">
            <a:avLst>
              <a:gd name="adj" fmla="val 50000"/>
            </a:avLst>
          </a:prstGeom>
          <a:solidFill>
            <a:srgbClr val="D10A1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 imediata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2567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a senha do banco. Confirmar com o time algumas regras que só vocês sabem responder.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62224" y="1920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90824" y="1691640"/>
            <a:ext cx="2567864" cy="457200"/>
          </a:xfrm>
          <a:prstGeom prst="roundRect">
            <a:avLst>
              <a:gd name="adj" fmla="val 50000"/>
            </a:avLst>
          </a:prstGeom>
          <a:solidFill>
            <a:srgbClr val="004691"/>
          </a:solidFill>
          <a:ln/>
        </p:spPr>
      </p:sp>
      <p:sp>
        <p:nvSpPr>
          <p:cNvPr id="10" name="Text 8"/>
          <p:cNvSpPr/>
          <p:nvPr/>
        </p:nvSpPr>
        <p:spPr>
          <a:xfrm>
            <a:off x="3390824" y="169164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90824" y="233172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dados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90824" y="2926080"/>
            <a:ext cx="2567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a lógica de cálculo em Python, validando cada regra contra o resultado da planilha atual, linha a linha.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04408" y="1920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233008" y="1691640"/>
            <a:ext cx="2567864" cy="457200"/>
          </a:xfrm>
          <a:prstGeom prst="roundRect">
            <a:avLst>
              <a:gd name="adj" fmla="val 50000"/>
            </a:avLst>
          </a:prstGeom>
          <a:solidFill>
            <a:srgbClr val="004691"/>
          </a:solidFill>
          <a:ln/>
        </p:spPr>
      </p:sp>
      <p:sp>
        <p:nvSpPr>
          <p:cNvPr id="15" name="Text 13"/>
          <p:cNvSpPr/>
          <p:nvPr/>
        </p:nvSpPr>
        <p:spPr>
          <a:xfrm>
            <a:off x="6233008" y="169164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3008" y="233172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33008" y="2926080"/>
            <a:ext cx="2567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as telas (já prototipadas — veja os slides anteriores), reaproveitando o fluxo que vocês já conhecem.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46591" y="192024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075191" y="1691640"/>
            <a:ext cx="2567864" cy="457200"/>
          </a:xfrm>
          <a:prstGeom prst="roundRect">
            <a:avLst>
              <a:gd name="adj" fmla="val 50000"/>
            </a:avLst>
          </a:prstGeom>
          <a:solidFill>
            <a:srgbClr val="004691"/>
          </a:solidFill>
          <a:ln/>
        </p:spPr>
      </p:sp>
      <p:sp>
        <p:nvSpPr>
          <p:cNvPr id="20" name="Text 18"/>
          <p:cNvSpPr/>
          <p:nvPr/>
        </p:nvSpPr>
        <p:spPr>
          <a:xfrm>
            <a:off x="9075191" y="169164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75191" y="2331720"/>
            <a:ext cx="2567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75191" y="2926080"/>
            <a:ext cx="25678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em paralelo com a planilha por 1-2 fechamentos, comparando resultado, antes de aposentar o Excel.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46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30352"/>
            <a:ext cx="146304" cy="182880"/>
          </a:xfrm>
          <a:prstGeom prst="triangle">
            <a:avLst/>
          </a:prstGeom>
          <a:solidFill>
            <a:srgbClr val="D10A11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4480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274320" cy="274320"/>
          </a:xfrm>
          <a:prstGeom prst="oval">
            <a:avLst/>
          </a:prstGeom>
          <a:solidFill>
            <a:srgbClr val="D10A1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395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a troca imediata da senha do banco de dados (custo baixo, já é risco hoje).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74320" cy="274320"/>
          </a:xfrm>
          <a:prstGeom prst="oval">
            <a:avLst/>
          </a:prstGeom>
          <a:solidFill>
            <a:srgbClr val="D10A1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31729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seguir com a reescrita do Quick Data como aplicativo em Python.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274320" cy="274320"/>
          </a:xfrm>
          <a:prstGeom prst="oval">
            <a:avLst/>
          </a:prstGeom>
          <a:solidFill>
            <a:srgbClr val="D10A1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9502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Alocar tempo do time técnico sênior para conduzir a Fase 1 (motor de dados).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818888"/>
            <a:ext cx="274320" cy="274320"/>
          </a:xfrm>
          <a:prstGeom prst="oval">
            <a:avLst/>
          </a:prstGeom>
          <a:solidFill>
            <a:srgbClr val="D10A1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818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72744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rodada curta com os analistas para validar as poucas regras de negócio que só o time sabe responder.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FB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Data — Planejamento &amp; Controle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TIM Brasil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Quick Data — Diagnóstico e Proposta</dc:title>
  <dc:subject>PptxGenJS Presentation</dc:subject>
  <dc:creator>Planejamento &amp; Controle</dc:creator>
  <cp:lastModifiedBy>Planejamento &amp; Controle</cp:lastModifiedBy>
  <cp:revision>1</cp:revision>
  <dcterms:created xsi:type="dcterms:W3CDTF">2026-08-17T13:01:18Z</dcterms:created>
  <dcterms:modified xsi:type="dcterms:W3CDTF">2026-08-17T13:01:18Z</dcterms:modified>
</cp:coreProperties>
</file>